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17"/>
    <p:sldId id="267" r:id="rId18"/>
    <p:sldId id="262" r:id="rId8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7.xml"/><Relationship Id="rId18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321040" y="1938528"/>
            <a:ext cx="1536192" cy="1056132"/>
          </a:xfrm>
          <a:prstGeom prst="line">
            <a:avLst/>
          </a:prstGeom>
          <a:noFill/>
          <a:ln w="12700">
            <a:solidFill>
              <a:srgbClr val="3E7484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994660"/>
            <a:ext cx="1824228" cy="768096"/>
          </a:xfrm>
          <a:prstGeom prst="line">
            <a:avLst/>
          </a:prstGeom>
          <a:noFill/>
          <a:ln w="12700">
            <a:solidFill>
              <a:srgbClr val="3E7484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7232" y="1938528"/>
            <a:ext cx="1728216" cy="672084"/>
          </a:xfrm>
          <a:prstGeom prst="line">
            <a:avLst/>
          </a:prstGeom>
          <a:noFill/>
          <a:ln w="12700">
            <a:solidFill>
              <a:srgbClr val="3E7484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145268" y="2610612"/>
            <a:ext cx="1440180" cy="1152144"/>
          </a:xfrm>
          <a:prstGeom prst="line">
            <a:avLst/>
          </a:prstGeom>
          <a:noFill/>
          <a:ln w="12700">
            <a:solidFill>
              <a:srgbClr val="3E7484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5268" y="3762756"/>
            <a:ext cx="1152144" cy="672084"/>
          </a:xfrm>
          <a:prstGeom prst="line">
            <a:avLst/>
          </a:prstGeom>
          <a:noFill/>
          <a:ln w="12700">
            <a:solidFill>
              <a:srgbClr val="3E7484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85448" y="2610612"/>
            <a:ext cx="1152144" cy="864108"/>
          </a:xfrm>
          <a:prstGeom prst="line">
            <a:avLst/>
          </a:prstGeom>
          <a:noFill/>
          <a:ln w="12700">
            <a:solidFill>
              <a:srgbClr val="3E7484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53544" y="1746504"/>
            <a:ext cx="384048" cy="1728216"/>
          </a:xfrm>
          <a:prstGeom prst="line">
            <a:avLst/>
          </a:prstGeom>
          <a:noFill/>
          <a:ln w="12700">
            <a:solidFill>
              <a:srgbClr val="3E7484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857232" y="1746504"/>
            <a:ext cx="2496312" cy="192024"/>
          </a:xfrm>
          <a:prstGeom prst="line">
            <a:avLst/>
          </a:prstGeom>
          <a:noFill/>
          <a:ln w="12700">
            <a:solidFill>
              <a:srgbClr val="3E7484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297412" y="2610612"/>
            <a:ext cx="288036" cy="1824228"/>
          </a:xfrm>
          <a:prstGeom prst="line">
            <a:avLst/>
          </a:prstGeom>
          <a:noFill/>
          <a:ln w="12700">
            <a:solidFill>
              <a:srgbClr val="3E7484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52206" y="2725826"/>
            <a:ext cx="537667" cy="537667"/>
          </a:xfrm>
          <a:prstGeom prst="ellipse">
            <a:avLst/>
          </a:prstGeom>
          <a:solidFill>
            <a:srgbClr val="0F6B7E"/>
          </a:solidFill>
          <a:ln/>
        </p:spPr>
      </p:sp>
      <p:sp>
        <p:nvSpPr>
          <p:cNvPr id="12" name="Shape 10"/>
          <p:cNvSpPr/>
          <p:nvPr/>
        </p:nvSpPr>
        <p:spPr>
          <a:xfrm>
            <a:off x="9684410" y="1765706"/>
            <a:ext cx="345643" cy="345643"/>
          </a:xfrm>
          <a:prstGeom prst="ellipse">
            <a:avLst/>
          </a:prstGeom>
          <a:solidFill>
            <a:srgbClr val="0F6B7E"/>
          </a:solidFill>
          <a:ln/>
        </p:spPr>
      </p:sp>
      <p:sp>
        <p:nvSpPr>
          <p:cNvPr id="13" name="Shape 11"/>
          <p:cNvSpPr/>
          <p:nvPr/>
        </p:nvSpPr>
        <p:spPr>
          <a:xfrm>
            <a:off x="9799625" y="3417113"/>
            <a:ext cx="691286" cy="69128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Shape 12"/>
          <p:cNvSpPr/>
          <p:nvPr/>
        </p:nvSpPr>
        <p:spPr>
          <a:xfrm>
            <a:off x="11374222" y="2399386"/>
            <a:ext cx="422453" cy="422453"/>
          </a:xfrm>
          <a:prstGeom prst="ellipse">
            <a:avLst/>
          </a:prstGeom>
          <a:solidFill>
            <a:srgbClr val="0F6B7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53394" y="4290822"/>
            <a:ext cx="288036" cy="288036"/>
          </a:xfrm>
          <a:prstGeom prst="ellipse">
            <a:avLst/>
          </a:prstGeom>
          <a:solidFill>
            <a:srgbClr val="0F6B7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449556" y="3186684"/>
            <a:ext cx="576072" cy="5760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Shape 15"/>
          <p:cNvSpPr/>
          <p:nvPr/>
        </p:nvSpPr>
        <p:spPr>
          <a:xfrm>
            <a:off x="12228728" y="1621688"/>
            <a:ext cx="249631" cy="249631"/>
          </a:xfrm>
          <a:prstGeom prst="ellipse">
            <a:avLst/>
          </a:prstGeom>
          <a:solidFill>
            <a:srgbClr val="0F6B7E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Prof-Graph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205740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企业级学术网络治理系统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502920" y="3200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A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自动构建 · 全程可溯源 · 持续自治理的学术人脉网络图谱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02920" y="3794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F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为校企合作、产学研协同、人才引进提供可信的人脉数据底座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5989320"/>
            <a:ext cx="2926080" cy="0"/>
          </a:xfrm>
          <a:prstGeom prst="line">
            <a:avLst/>
          </a:prstGeom>
          <a:noFill/>
          <a:ln w="12700">
            <a:solidFill>
              <a:srgbClr val="2E67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F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项目汇报材料 · 2026 年 9 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业务痛点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产学研合作，卡在「找对人、看对关系」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6479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3EEF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名单好找，关系难寻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94960" y="1691640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搜索引擎能给一份名单，但谁与本单位、合作方有过交集，能否经熟人引荐无从判断——专家背后的关系网才是开展合作的抓手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862072"/>
            <a:ext cx="11183112" cy="0"/>
          </a:xfrm>
          <a:prstGeom prst="line">
            <a:avLst/>
          </a:prstGeom>
          <a:noFill/>
          <a:ln w="9525">
            <a:solidFill>
              <a:srgbClr val="D8E2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24612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3EEF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31729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看不准合作底细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394960" y="3172968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名单只有名字：学术水平、师承圈子、过往合作看不出，合作与引才决策没底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4343400"/>
            <a:ext cx="11183112" cy="0"/>
          </a:xfrm>
          <a:prstGeom prst="line">
            <a:avLst/>
          </a:prstGeom>
          <a:noFill/>
          <a:ln w="9525">
            <a:solidFill>
              <a:srgbClr val="D8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472744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3EEF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727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71600" y="465429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信息旧、渠道散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394960" y="465429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官网信息滞后、联系方式失效，对接靠会议和中介层层转介，周期以月计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02920" y="614476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4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pPr indent="0" marL="0">
              <a:buNone/>
            </a:pPr>
            <a:r>
              <a:rPr lang="en-US" sz="145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业务需要一张「找得到人、看得清关系、查得到证据」的学者合作网络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解决方案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一条全自动的人脉图谱生产线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E3EEF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317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4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多源采集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2926080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arXiv 论文流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资讯 RSS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高校官网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51176" y="3044952"/>
            <a:ext cx="201168" cy="274320"/>
          </a:xfrm>
          <a:prstGeom prst="rightArrow">
            <a:avLst/>
          </a:prstGeom>
          <a:solidFill>
            <a:srgbClr val="0F6B7E"/>
          </a:solidFill>
          <a:ln/>
        </p:spPr>
      </p:sp>
      <p:sp>
        <p:nvSpPr>
          <p:cNvPr id="8" name="Shape 6"/>
          <p:cNvSpPr/>
          <p:nvPr/>
        </p:nvSpPr>
        <p:spPr>
          <a:xfrm>
            <a:off x="2798064" y="205740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E3EEF1"/>
          </a:solidFill>
          <a:ln/>
        </p:spPr>
      </p:sp>
      <p:sp>
        <p:nvSpPr>
          <p:cNvPr id="9" name="Text 7"/>
          <p:cNvSpPr/>
          <p:nvPr/>
        </p:nvSpPr>
        <p:spPr>
          <a:xfrm>
            <a:off x="2798064" y="23317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4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大模型抽取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889504" y="2926080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GLM 结构化抽取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熔断降级保护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失败自动重试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3044952"/>
            <a:ext cx="201168" cy="274320"/>
          </a:xfrm>
          <a:prstGeom prst="rightArrow">
            <a:avLst/>
          </a:prstGeom>
          <a:solidFill>
            <a:srgbClr val="0F6B7E"/>
          </a:solidFill>
          <a:ln/>
        </p:spPr>
      </p:sp>
      <p:sp>
        <p:nvSpPr>
          <p:cNvPr id="12" name="Shape 10"/>
          <p:cNvSpPr/>
          <p:nvPr/>
        </p:nvSpPr>
        <p:spPr>
          <a:xfrm>
            <a:off x="5093208" y="205740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0F6B7E"/>
          </a:solidFill>
          <a:ln/>
        </p:spPr>
      </p:sp>
      <p:sp>
        <p:nvSpPr>
          <p:cNvPr id="13" name="Text 11"/>
          <p:cNvSpPr/>
          <p:nvPr/>
        </p:nvSpPr>
        <p:spPr>
          <a:xfrm>
            <a:off x="5093208" y="23317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智能消歧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184648" y="2926080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A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五维信号评分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A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同名不混淆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A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机构变体归一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41464" y="3044952"/>
            <a:ext cx="201168" cy="274320"/>
          </a:xfrm>
          <a:prstGeom prst="rightArrow">
            <a:avLst/>
          </a:prstGeom>
          <a:solidFill>
            <a:srgbClr val="0F6B7E"/>
          </a:solidFill>
          <a:ln/>
        </p:spPr>
      </p:sp>
      <p:sp>
        <p:nvSpPr>
          <p:cNvPr id="16" name="Shape 14"/>
          <p:cNvSpPr/>
          <p:nvPr/>
        </p:nvSpPr>
        <p:spPr>
          <a:xfrm>
            <a:off x="7388352" y="205740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E3EEF1"/>
          </a:solidFill>
          <a:ln/>
        </p:spPr>
      </p:sp>
      <p:sp>
        <p:nvSpPr>
          <p:cNvPr id="17" name="Text 15"/>
          <p:cNvSpPr/>
          <p:nvPr/>
        </p:nvSpPr>
        <p:spPr>
          <a:xfrm>
            <a:off x="7388352" y="23317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4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关系图谱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479792" y="2926080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论文合作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学术传承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项目合作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436608" y="3044952"/>
            <a:ext cx="201168" cy="274320"/>
          </a:xfrm>
          <a:prstGeom prst="rightArrow">
            <a:avLst/>
          </a:prstGeom>
          <a:solidFill>
            <a:srgbClr val="0F6B7E"/>
          </a:solidFill>
          <a:ln/>
        </p:spPr>
      </p:sp>
      <p:sp>
        <p:nvSpPr>
          <p:cNvPr id="20" name="Shape 18"/>
          <p:cNvSpPr/>
          <p:nvPr/>
        </p:nvSpPr>
        <p:spPr>
          <a:xfrm>
            <a:off x="9683496" y="2057400"/>
            <a:ext cx="1993392" cy="2286000"/>
          </a:xfrm>
          <a:prstGeom prst="roundRect">
            <a:avLst>
              <a:gd name="adj" fmla="val 4587"/>
            </a:avLst>
          </a:prstGeom>
          <a:solidFill>
            <a:srgbClr val="E3EEF1"/>
          </a:solidFill>
          <a:ln/>
        </p:spPr>
      </p:sp>
      <p:sp>
        <p:nvSpPr>
          <p:cNvPr id="21" name="Text 19"/>
          <p:cNvSpPr/>
          <p:nvPr/>
        </p:nvSpPr>
        <p:spPr>
          <a:xfrm>
            <a:off x="9683496" y="23317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4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应用与治理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774936" y="2926080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图谱可视化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证据链溯源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人工治理合规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8920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4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每夜 03:00 全自动批处理 · 失败自愈重试 · 数据夜间体检 · 每日全库备份 —— 全程无需人工值守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194560" y="5532120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FAEEDA"/>
          </a:solidFill>
          <a:ln/>
        </p:spPr>
      </p:sp>
      <p:sp>
        <p:nvSpPr>
          <p:cNvPr id="25" name="Text 23"/>
          <p:cNvSpPr/>
          <p:nvPr/>
        </p:nvSpPr>
        <p:spPr>
          <a:xfrm>
            <a:off x="2468880" y="55321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落地形态：</a:t>
            </a:r>
            <a:pPr indent="0" marL="0">
              <a:buNone/>
            </a:pPr>
            <a:r>
              <a:rPr lang="en-US" sz="1450" dirty="0">
                <a:solidFill>
                  <a:srgbClr val="6B4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输入一个研究方向或机构，得到一张可点开验证证据的人脉网络图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核心技术 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多信号智能消歧引擎：同名学者不混淆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五维身份信号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31136"/>
            <a:ext cx="118872" cy="118872"/>
          </a:xfrm>
          <a:prstGeom prst="ellipse">
            <a:avLst/>
          </a:prstGeom>
          <a:solidFill>
            <a:srgbClr val="0F6B7E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2103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姓名拼音归一（含 20 组姓氏多音字词典）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889504"/>
            <a:ext cx="118872" cy="118872"/>
          </a:xfrm>
          <a:prstGeom prst="ellipse">
            <a:avLst/>
          </a:prstGeom>
          <a:solidFill>
            <a:srgbClr val="0F6B7E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" y="276148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机构归属（规范化键自动消解机构变体）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547872"/>
            <a:ext cx="118872" cy="118872"/>
          </a:xfrm>
          <a:prstGeom prst="ellipse">
            <a:avLst/>
          </a:prstGeom>
          <a:solidFill>
            <a:srgbClr val="0F6B7E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" y="341985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合作时间重叠度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118872" cy="118872"/>
          </a:xfrm>
          <a:prstGeom prst="ellipse">
            <a:avLst/>
          </a:prstGeom>
          <a:solidFill>
            <a:srgbClr val="0F6B7E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" y="407822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共同合作者网络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864608"/>
            <a:ext cx="118872" cy="118872"/>
          </a:xfrm>
          <a:prstGeom prst="ellipse">
            <a:avLst/>
          </a:prstGeom>
          <a:solidFill>
            <a:srgbClr val="0F6B7E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" y="473659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研究方向相似度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806440" y="1828800"/>
            <a:ext cx="5852160" cy="1097280"/>
          </a:xfrm>
          <a:prstGeom prst="roundRect">
            <a:avLst>
              <a:gd name="adj" fmla="val 7500"/>
            </a:avLst>
          </a:prstGeom>
          <a:solidFill>
            <a:srgbClr val="0F6B7E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975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0.8 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80760" y="234086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自动合并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75320" y="18288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证据充分，直接并入同一学者档案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06440" y="3127248"/>
            <a:ext cx="5852160" cy="1097280"/>
          </a:xfrm>
          <a:prstGeom prst="roundRect">
            <a:avLst>
              <a:gd name="adj" fmla="val 7500"/>
            </a:avLst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32735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 – 0.8 分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80760" y="36393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人工复核队列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275320" y="3127248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进入管理端复核界面，人机协同裁决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806440" y="4425696"/>
            <a:ext cx="5852160" cy="1097280"/>
          </a:xfrm>
          <a:prstGeom prst="roundRect">
            <a:avLst>
              <a:gd name="adj" fmla="val 7500"/>
            </a:avLst>
          </a:prstGeom>
          <a:solidFill>
            <a:srgbClr val="8DA3AC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4572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0.5 分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80760" y="4937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保守新建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275320" y="4425696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宁分勿错，独立建档待更多证据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实弹战绩：单次回填 15,742 条作者署名零失败 · 证据化批量合并 443 对同名学者 · 机构实体 6,050 → 5,826（零误并）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核心技术 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证据链与合规治理：每条关系都敢拿去用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任意一条关系，点开可查证据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3600000">
              <a:srgbClr val="0B2A3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42032"/>
            <a:ext cx="658368" cy="365760"/>
          </a:xfrm>
          <a:prstGeom prst="roundRect">
            <a:avLst>
              <a:gd name="adj" fmla="val 17500"/>
            </a:avLst>
          </a:prstGeom>
          <a:solidFill>
            <a:srgbClr val="E3EEF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4203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691640" y="246888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 Is All You Need · NeurIPS 2017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182112"/>
            <a:ext cx="4572000" cy="0"/>
          </a:xfrm>
          <a:prstGeom prst="line">
            <a:avLst/>
          </a:prstGeom>
          <a:noFill/>
          <a:ln w="9525">
            <a:solidFill>
              <a:srgbClr val="D8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410712"/>
            <a:ext cx="658368" cy="365760"/>
          </a:xfrm>
          <a:prstGeom prst="roundRect">
            <a:avLst>
              <a:gd name="adj" fmla="val 17500"/>
            </a:avLst>
          </a:prstGeom>
          <a:solidFill>
            <a:srgbClr val="E3EEF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1071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691640" y="333756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NISL 实验室成员页 · 官网快照留档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050792"/>
            <a:ext cx="4572000" cy="0"/>
          </a:xfrm>
          <a:prstGeom prst="line">
            <a:avLst/>
          </a:prstGeom>
          <a:noFill/>
          <a:ln w="9525">
            <a:solidFill>
              <a:srgbClr val="D8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279392"/>
            <a:ext cx="658368" cy="365760"/>
          </a:xfrm>
          <a:prstGeom prst="roundRect">
            <a:avLst>
              <a:gd name="adj" fmla="val 17500"/>
            </a:avLst>
          </a:prstGeom>
          <a:solidFill>
            <a:srgbClr val="E3EEF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7939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资讯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691640" y="420624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校企共建联合实验室 · 官方公告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5532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全库 97,012 条证据，三类来源全程可溯源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214884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E3EEF1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2768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4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操作留痕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720840" y="26243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每次人工编辑写入审计日志，前后快照可回放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0" y="329184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E3EEF1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34198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4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合规删除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720840" y="37673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墓碑机制级联清理，不留孤儿数据、不复活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4434840"/>
            <a:ext cx="5257800" cy="914400"/>
          </a:xfrm>
          <a:prstGeom prst="roundRect">
            <a:avLst>
              <a:gd name="adj" fmla="val 9000"/>
            </a:avLst>
          </a:prstGeom>
          <a:solidFill>
            <a:srgbClr val="E3EEF1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45628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4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夜间体检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720840" y="49103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项数据不变量巡检，违规即刻暴露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技术底座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先进技术一览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787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3600000">
              <a:srgbClr val="0B2A3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0756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F6B7E"/>
          </a:solidFill>
          <a:ln/>
        </p:spPr>
      </p:sp>
      <p:sp>
        <p:nvSpPr>
          <p:cNvPr id="6" name="Text 4"/>
          <p:cNvSpPr/>
          <p:nvPr/>
        </p:nvSpPr>
        <p:spPr>
          <a:xfrm>
            <a:off x="1216152" y="200253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GLM 大模型工程化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95528" y="2560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结构化抽取 + 熔断降级 + 死信重试，生产级 LLM 管线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783080"/>
            <a:ext cx="354787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3600000">
              <a:srgbClr val="0B2A35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20756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F6B7E"/>
          </a:solidFill>
          <a:ln/>
        </p:spPr>
      </p:sp>
      <p:sp>
        <p:nvSpPr>
          <p:cNvPr id="10" name="Text 8"/>
          <p:cNvSpPr/>
          <p:nvPr/>
        </p:nvSpPr>
        <p:spPr>
          <a:xfrm>
            <a:off x="5038344" y="200253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实体消歧引擎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17720" y="2560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五维信号加权评分、分级裁决、机构与姓名双归一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47304" y="1783080"/>
            <a:ext cx="354787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3600000">
              <a:srgbClr val="0B2A35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39912" y="20756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F6B7E"/>
          </a:solidFill>
          <a:ln/>
        </p:spPr>
      </p:sp>
      <p:sp>
        <p:nvSpPr>
          <p:cNvPr id="14" name="Text 12"/>
          <p:cNvSpPr/>
          <p:nvPr/>
        </p:nvSpPr>
        <p:spPr>
          <a:xfrm>
            <a:off x="8860536" y="200253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全异步技术栈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439912" y="2560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+ SQLAlchemy async + PostgreSQL JSONB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354787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3600000">
              <a:srgbClr val="0B2A35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" y="40873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F6B7E"/>
          </a:solidFill>
          <a:ln/>
        </p:spPr>
      </p:sp>
      <p:sp>
        <p:nvSpPr>
          <p:cNvPr id="18" name="Text 16"/>
          <p:cNvSpPr/>
          <p:nvPr/>
        </p:nvSpPr>
        <p:spPr>
          <a:xfrm>
            <a:off x="1216152" y="40142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规格驱动开发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95528" y="4572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 spec 先行，每条验收条款可回溯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25112" y="3794760"/>
            <a:ext cx="354787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3600000">
              <a:srgbClr val="0B2A35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40873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5038344" y="40142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339 项自动化测试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4617720" y="4572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每次提交全量回归，生产数据手术零回归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47304" y="3794760"/>
            <a:ext cx="354787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sx="100000" sy="100000" kx="0" ky="0" algn="bl" rotWithShape="0" blurRad="88900" dist="25400" dir="3600000">
              <a:srgbClr val="0B2A35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39912" y="40873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F6B7E"/>
          </a:solidFill>
          <a:ln/>
        </p:spPr>
      </p:sp>
      <p:sp>
        <p:nvSpPr>
          <p:cNvPr id="26" name="Text 24"/>
          <p:cNvSpPr/>
          <p:nvPr/>
        </p:nvSpPr>
        <p:spPr>
          <a:xfrm>
            <a:off x="8860536" y="40142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自愈式运维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439912" y="4572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指数退避重试、数据巡检、每日备份，无人值守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6B7E"/>
                </a:solidFill>
                <a:latin typeface="Microsoft YaHei"/>
              </a:rPr>
              <a:t>06 · 系统实貌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2313A"/>
                </a:solidFill>
                <a:latin typeface="Microsoft YaHei"/>
              </a:rPr>
              <a:t>图谱怎么用：三步定位一位学者的合作网络</a:t>
            </a:r>
          </a:p>
        </p:txBody>
      </p:sp>
      <p:pic>
        <p:nvPicPr>
          <p:cNvPr id="4" name="Picture 3" descr="graph_expl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7178040" cy="4037647"/>
          </a:xfrm>
          <a:prstGeom prst="rect">
            <a:avLst/>
          </a:prstGeom>
          <a:ln w="12700">
            <a:solidFill>
              <a:srgbClr val="D8E2E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02920" y="5619559"/>
            <a:ext cx="7178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3747D"/>
                </a:solidFill>
                <a:latin typeface="Microsoft YaHei"/>
              </a:rPr>
              <a:t>示例：机构选「上海交通大学」→ 搜索 Weinan Zhang → 回车聚焦其合作星网（节点大小 ∝ 论文量）</a:t>
            </a:r>
          </a:p>
        </p:txBody>
      </p:sp>
      <p:sp>
        <p:nvSpPr>
          <p:cNvPr id="6" name="Oval 5"/>
          <p:cNvSpPr/>
          <p:nvPr/>
        </p:nvSpPr>
        <p:spPr>
          <a:xfrm>
            <a:off x="7955279" y="1499616"/>
            <a:ext cx="384048" cy="384048"/>
          </a:xfrm>
          <a:prstGeom prst="ellipse">
            <a:avLst/>
          </a:prstGeom>
          <a:solidFill>
            <a:srgbClr val="0F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49056" y="1481328"/>
            <a:ext cx="32369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4D5C"/>
                </a:solidFill>
                <a:latin typeface="Microsoft YaHei"/>
              </a:rPr>
              <a:t>选范围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49056" y="1801368"/>
            <a:ext cx="32369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3747D"/>
                </a:solidFill>
                <a:latin typeface="Microsoft YaHei"/>
              </a:rPr>
              <a:t>机构、赛道下拉加关系类型按钮，先圈定要看的圈子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2395728"/>
            <a:ext cx="3730753" cy="0"/>
          </a:xfrm>
          <a:prstGeom prst="line">
            <a:avLst/>
          </a:prstGeom>
          <a:ln w="9525">
            <a:solidFill>
              <a:srgbClr val="D8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955279" y="2468880"/>
            <a:ext cx="384048" cy="384048"/>
          </a:xfrm>
          <a:prstGeom prst="ellipse">
            <a:avLst/>
          </a:prstGeom>
          <a:solidFill>
            <a:srgbClr val="0F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9056" y="2450592"/>
            <a:ext cx="32369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4D5C"/>
                </a:solidFill>
                <a:latin typeface="Microsoft YaHei"/>
              </a:rPr>
              <a:t>搜姓名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9056" y="2770632"/>
            <a:ext cx="32369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3747D"/>
                </a:solidFill>
                <a:latin typeface="Microsoft YaHei"/>
              </a:rPr>
              <a:t>输入姓名回车，图谱自动聚焦其合作网络并居中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55279" y="3364992"/>
            <a:ext cx="3730753" cy="0"/>
          </a:xfrm>
          <a:prstGeom prst="line">
            <a:avLst/>
          </a:prstGeom>
          <a:ln w="9525">
            <a:solidFill>
              <a:srgbClr val="D8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955279" y="3438144"/>
            <a:ext cx="384048" cy="384048"/>
          </a:xfrm>
          <a:prstGeom prst="ellipse">
            <a:avLst/>
          </a:prstGeom>
          <a:solidFill>
            <a:srgbClr val="0F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6" y="3419856"/>
            <a:ext cx="32369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4D5C"/>
                </a:solidFill>
                <a:latin typeface="Microsoft YaHei"/>
              </a:rPr>
              <a:t>点节点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3739896"/>
            <a:ext cx="32369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3747D"/>
                </a:solidFill>
                <a:latin typeface="Microsoft YaHei"/>
              </a:rPr>
              <a:t>右侧滑出学者档案：机构、研究方向、合作伙伴与证据</a:t>
            </a:r>
          </a:p>
        </p:txBody>
      </p:sp>
      <p:pic>
        <p:nvPicPr>
          <p:cNvPr id="17" name="Picture 16" descr="detail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4315968"/>
            <a:ext cx="3401568" cy="1913382"/>
          </a:xfrm>
          <a:prstGeom prst="rect">
            <a:avLst/>
          </a:prstGeom>
          <a:ln w="12700">
            <a:solidFill>
              <a:srgbClr val="D8E2E6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7955279" y="6284214"/>
            <a:ext cx="3401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3747D"/>
                </a:solidFill>
                <a:latin typeface="Microsoft YaHei"/>
              </a:rPr>
              <a:t>第 ③ 步打开的学者档案面板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6B7E"/>
                </a:solidFill>
                <a:latin typeface="Microsoft YaHei"/>
              </a:rPr>
              <a:t>07 · 系统实貌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2313A"/>
                </a:solidFill>
                <a:latin typeface="Microsoft YaHei"/>
              </a:rPr>
              <a:t>治理怎么用：复核、修正、留痕，一条龙</a:t>
            </a:r>
          </a:p>
        </p:txBody>
      </p:sp>
      <p:pic>
        <p:nvPicPr>
          <p:cNvPr id="4" name="Picture 3" descr="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7178040" cy="4037647"/>
          </a:xfrm>
          <a:prstGeom prst="rect">
            <a:avLst/>
          </a:prstGeom>
          <a:ln w="12700">
            <a:solidFill>
              <a:srgbClr val="D8E2E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02920" y="5619559"/>
            <a:ext cx="7178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3747D"/>
                </a:solidFill>
                <a:latin typeface="Microsoft YaHei"/>
              </a:rPr>
              <a:t>示例：疑似同人档案 A/B 并排，五维信号逐项打分对比，一眼看出是否同一人</a:t>
            </a:r>
          </a:p>
        </p:txBody>
      </p:sp>
      <p:sp>
        <p:nvSpPr>
          <p:cNvPr id="6" name="Oval 5"/>
          <p:cNvSpPr/>
          <p:nvPr/>
        </p:nvSpPr>
        <p:spPr>
          <a:xfrm>
            <a:off x="7955279" y="1499616"/>
            <a:ext cx="384048" cy="384048"/>
          </a:xfrm>
          <a:prstGeom prst="ellipse">
            <a:avLst/>
          </a:prstGeom>
          <a:solidFill>
            <a:srgbClr val="0F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49056" y="1481328"/>
            <a:ext cx="32369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4D5C"/>
                </a:solidFill>
                <a:latin typeface="Microsoft YaHei"/>
              </a:rPr>
              <a:t>排队列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49056" y="1801368"/>
            <a:ext cx="32369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3747D"/>
                </a:solidFill>
                <a:latin typeface="Microsoft YaHei"/>
              </a:rPr>
              <a:t>人工复核页按置信度排队，疑似同人一对对处理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2395728"/>
            <a:ext cx="3730753" cy="0"/>
          </a:xfrm>
          <a:prstGeom prst="line">
            <a:avLst/>
          </a:prstGeom>
          <a:ln w="9525">
            <a:solidFill>
              <a:srgbClr val="D8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955279" y="2468880"/>
            <a:ext cx="384048" cy="384048"/>
          </a:xfrm>
          <a:prstGeom prst="ellipse">
            <a:avLst/>
          </a:prstGeom>
          <a:solidFill>
            <a:srgbClr val="0F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9056" y="2450592"/>
            <a:ext cx="32369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4D5C"/>
                </a:solidFill>
                <a:latin typeface="Microsoft YaHei"/>
              </a:rPr>
              <a:t>比信号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9056" y="2770632"/>
            <a:ext cx="32369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3747D"/>
                </a:solidFill>
                <a:latin typeface="Microsoft YaHei"/>
              </a:rPr>
              <a:t>展开五维对比：姓名 / 机构 / 邮箱 / 合作者 / 研究方向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55279" y="3364992"/>
            <a:ext cx="3730753" cy="0"/>
          </a:xfrm>
          <a:prstGeom prst="line">
            <a:avLst/>
          </a:prstGeom>
          <a:ln w="9525">
            <a:solidFill>
              <a:srgbClr val="D8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955279" y="3438144"/>
            <a:ext cx="384048" cy="384048"/>
          </a:xfrm>
          <a:prstGeom prst="ellipse">
            <a:avLst/>
          </a:prstGeom>
          <a:solidFill>
            <a:srgbClr val="0F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6" y="3419856"/>
            <a:ext cx="32369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4D5C"/>
                </a:solidFill>
                <a:latin typeface="Microsoft YaHei"/>
              </a:rPr>
              <a:t>落裁决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3739896"/>
            <a:ext cx="32369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3747D"/>
                </a:solidFill>
                <a:latin typeface="Microsoft YaHei"/>
              </a:rPr>
              <a:t>一键合并或拒绝；管理后台可改档案、删关系</a:t>
            </a:r>
          </a:p>
        </p:txBody>
      </p:sp>
      <p:pic>
        <p:nvPicPr>
          <p:cNvPr id="17" name="Picture 16" descr="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4315968"/>
            <a:ext cx="3401568" cy="1913382"/>
          </a:xfrm>
          <a:prstGeom prst="rect">
            <a:avLst/>
          </a:prstGeom>
          <a:ln w="12700">
            <a:solidFill>
              <a:srgbClr val="D8E2E6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7955279" y="6284214"/>
            <a:ext cx="3401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3747D"/>
                </a:solidFill>
                <a:latin typeface="Microsoft YaHei"/>
              </a:rPr>
              <a:t>每次治理操作自动进审计日志，可回溯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生产成效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 24 天，跑出了什么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8,042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02920" y="2953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收录论文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25112" y="196596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31,788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325112" y="2953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学者档案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47304" y="196596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95,311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8147304" y="2953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人脉关系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9319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16,485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502920" y="49194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潜在关系线索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25112" y="39319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97,012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4325112" y="49194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可溯源证据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47304" y="39319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5800" dirty="0"/>
          </a:p>
        </p:txBody>
      </p:sp>
      <p:sp>
        <p:nvSpPr>
          <p:cNvPr id="15" name="Text 13"/>
          <p:cNvSpPr/>
          <p:nvPr/>
        </p:nvSpPr>
        <p:spPr>
          <a:xfrm>
            <a:off x="8147304" y="49194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夜间自动运转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F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生产库实测 · 2026-09-01 · 含中国学者的论文及全部合著网络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· 交付节奏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天，从立项到 M4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88720" y="2834640"/>
            <a:ext cx="9829800" cy="0"/>
          </a:xfrm>
          <a:prstGeom prst="line">
            <a:avLst/>
          </a:prstGeom>
          <a:noFill/>
          <a:ln w="19050">
            <a:solidFill>
              <a:srgbClr val="D8E2E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88136" y="2734056"/>
            <a:ext cx="201168" cy="201168"/>
          </a:xfrm>
          <a:prstGeom prst="ellipse">
            <a:avLst/>
          </a:prstGeom>
          <a:solidFill>
            <a:srgbClr val="0F6B7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28600" y="3566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需求分析与技术路线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54096" y="2734056"/>
            <a:ext cx="201168" cy="201168"/>
          </a:xfrm>
          <a:prstGeom prst="ellipse">
            <a:avLst/>
          </a:prstGeom>
          <a:solidFill>
            <a:srgbClr val="0F6B7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240280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08-19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0280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194560" y="3566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论文合作全链路上线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0056" y="2734056"/>
            <a:ext cx="201168" cy="201168"/>
          </a:xfrm>
          <a:prstGeom prst="ellipse">
            <a:avLst/>
          </a:prstGeom>
          <a:solidFill>
            <a:srgbClr val="0F6B7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206240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08-28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160520" y="3566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学术传承 · 项目合作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86016" y="2734056"/>
            <a:ext cx="201168" cy="201168"/>
          </a:xfrm>
          <a:prstGeom prst="ellipse">
            <a:avLst/>
          </a:prstGeom>
          <a:solidFill>
            <a:srgbClr val="0F6B7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172200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08-29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M2.5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126480" y="3566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人工治理与合规闭环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51976" y="2734056"/>
            <a:ext cx="201168" cy="201168"/>
          </a:xfrm>
          <a:prstGeom prst="ellipse">
            <a:avLst/>
          </a:prstGeom>
          <a:solidFill>
            <a:srgbClr val="0F6B7E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38160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08-31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38160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092440" y="3566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潜在关系挖掘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917936" y="2734056"/>
            <a:ext cx="201168" cy="201168"/>
          </a:xfrm>
          <a:prstGeom prst="ellipse">
            <a:avLst/>
          </a:prstGeom>
          <a:solidFill>
            <a:srgbClr val="0F6B7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104120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08-31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104120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D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M4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0058400" y="3566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机构消解 · 生产加固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4892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118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502920" y="55961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次代码提交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374136" y="4892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339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3374136" y="55961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项自动化测试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245352" y="4892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6245352" y="55961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个里程碑 spec 先行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116568" y="4892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9116568" y="55961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7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次生产数据丢失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595360" y="4535424"/>
            <a:ext cx="1316736" cy="905256"/>
          </a:xfrm>
          <a:prstGeom prst="line">
            <a:avLst/>
          </a:prstGeom>
          <a:noFill/>
          <a:ln w="12700">
            <a:solidFill>
              <a:srgbClr val="3E7484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5440680"/>
            <a:ext cx="1563624" cy="658368"/>
          </a:xfrm>
          <a:prstGeom prst="line">
            <a:avLst/>
          </a:prstGeom>
          <a:noFill/>
          <a:ln w="12700">
            <a:solidFill>
              <a:srgbClr val="3E7484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12096" y="4535424"/>
            <a:ext cx="1481328" cy="576072"/>
          </a:xfrm>
          <a:prstGeom prst="line">
            <a:avLst/>
          </a:prstGeom>
          <a:noFill/>
          <a:ln w="12700">
            <a:solidFill>
              <a:srgbClr val="3E7484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158984" y="5111496"/>
            <a:ext cx="1234440" cy="987552"/>
          </a:xfrm>
          <a:prstGeom prst="line">
            <a:avLst/>
          </a:prstGeom>
          <a:noFill/>
          <a:ln w="12700">
            <a:solidFill>
              <a:srgbClr val="3E7484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58984" y="6099048"/>
            <a:ext cx="987552" cy="576072"/>
          </a:xfrm>
          <a:prstGeom prst="line">
            <a:avLst/>
          </a:prstGeom>
          <a:noFill/>
          <a:ln w="12700">
            <a:solidFill>
              <a:srgbClr val="3E7484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93424" y="5111496"/>
            <a:ext cx="987552" cy="740664"/>
          </a:xfrm>
          <a:prstGeom prst="line">
            <a:avLst/>
          </a:prstGeom>
          <a:noFill/>
          <a:ln w="12700">
            <a:solidFill>
              <a:srgbClr val="3E7484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51792" y="4370832"/>
            <a:ext cx="329184" cy="1481328"/>
          </a:xfrm>
          <a:prstGeom prst="line">
            <a:avLst/>
          </a:prstGeom>
          <a:noFill/>
          <a:ln w="12700">
            <a:solidFill>
              <a:srgbClr val="3E7484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912096" y="4370832"/>
            <a:ext cx="2139696" cy="164592"/>
          </a:xfrm>
          <a:prstGeom prst="line">
            <a:avLst/>
          </a:prstGeom>
          <a:noFill/>
          <a:ln w="12700">
            <a:solidFill>
              <a:srgbClr val="3E7484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46536" y="5111496"/>
            <a:ext cx="246888" cy="1563624"/>
          </a:xfrm>
          <a:prstGeom prst="line">
            <a:avLst/>
          </a:prstGeom>
          <a:noFill/>
          <a:ln w="12700">
            <a:solidFill>
              <a:srgbClr val="3E7484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4931" y="5210251"/>
            <a:ext cx="460858" cy="460858"/>
          </a:xfrm>
          <a:prstGeom prst="ellipse">
            <a:avLst/>
          </a:prstGeom>
          <a:solidFill>
            <a:srgbClr val="0F6B7E"/>
          </a:solidFill>
          <a:ln/>
        </p:spPr>
      </p:sp>
      <p:sp>
        <p:nvSpPr>
          <p:cNvPr id="12" name="Shape 10"/>
          <p:cNvSpPr/>
          <p:nvPr/>
        </p:nvSpPr>
        <p:spPr>
          <a:xfrm>
            <a:off x="9763963" y="4387291"/>
            <a:ext cx="296266" cy="296266"/>
          </a:xfrm>
          <a:prstGeom prst="ellipse">
            <a:avLst/>
          </a:prstGeom>
          <a:solidFill>
            <a:srgbClr val="0F6B7E"/>
          </a:solidFill>
          <a:ln/>
        </p:spPr>
      </p:sp>
      <p:sp>
        <p:nvSpPr>
          <p:cNvPr id="13" name="Shape 11"/>
          <p:cNvSpPr/>
          <p:nvPr/>
        </p:nvSpPr>
        <p:spPr>
          <a:xfrm>
            <a:off x="9862718" y="5802782"/>
            <a:ext cx="592531" cy="592531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12373" y="4930445"/>
            <a:ext cx="362102" cy="362102"/>
          </a:xfrm>
          <a:prstGeom prst="ellipse">
            <a:avLst/>
          </a:prstGeom>
          <a:solidFill>
            <a:srgbClr val="0F6B7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23092" y="6551676"/>
            <a:ext cx="246888" cy="246888"/>
          </a:xfrm>
          <a:prstGeom prst="ellipse">
            <a:avLst/>
          </a:prstGeom>
          <a:solidFill>
            <a:srgbClr val="0F6B7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134088" y="5605272"/>
            <a:ext cx="493776" cy="49377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Shape 15"/>
          <p:cNvSpPr/>
          <p:nvPr/>
        </p:nvSpPr>
        <p:spPr>
          <a:xfrm>
            <a:off x="11944807" y="4263847"/>
            <a:ext cx="213970" cy="213970"/>
          </a:xfrm>
          <a:prstGeom prst="ellipse">
            <a:avLst/>
          </a:prstGeom>
          <a:solidFill>
            <a:srgbClr val="0F6B7E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2402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让每一条人脉，都有据可依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502920" y="3383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3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下一步：批量复核工具 · 全链路可观测 · 机构权威消解 · 数据源扩展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5120640"/>
            <a:ext cx="2926080" cy="0"/>
          </a:xfrm>
          <a:prstGeom prst="line">
            <a:avLst/>
          </a:prstGeom>
          <a:noFill/>
          <a:ln w="12700">
            <a:solidFill>
              <a:srgbClr val="2E67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285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F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Prof-Graph · 企业级学术网络治理系统 · 2026 年 9 月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企业级学术网络治理系统 · 项目汇报</dc:title>
  <dc:subject>PptxGenJS Presentation</dc:subject>
  <dc:creator>Prof-Graph</dc:creator>
  <cp:lastModifiedBy>Prof-Graph</cp:lastModifiedBy>
  <cp:revision>1</cp:revision>
  <dcterms:created xsi:type="dcterms:W3CDTF">2026-09-02T13:20:56Z</dcterms:created>
  <dcterms:modified xsi:type="dcterms:W3CDTF">2026-09-02T13:20:56Z</dcterms:modified>
</cp:coreProperties>
</file>